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7FC4E8"/>
                </a:solidFill>
                <a:latin typeface="Calibri"/>
                <a:ea typeface="Microsoft YaHei"/>
                <a:cs typeface="Microsoft YaHei"/>
              </a:rPr>
              <a:t>GSTACK TUTORIAL NO.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English → Chinese Video Captioning, Verified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86200"/>
            <a:ext cx="969264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C9D6E0"/>
                </a:solidFill>
                <a:latin typeface="Calibri"/>
                <a:ea typeface="Microsoft YaHei"/>
                <a:cs typeface="Microsoft YaHei"/>
              </a:rPr>
              <a:t>Build a caption pipeline with videocaptioner — and prove the output is right with a five-gate verification chain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120640"/>
            <a:ext cx="1463040" cy="1905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969264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9AA8B4"/>
                </a:solidFill>
                <a:latin typeface="Calibri"/>
                <a:ea typeface="Microsoft YaHei"/>
                <a:cs typeface="Microsoft YaHei"/>
              </a:rPr>
              <a:t>gstack orchestration + one domain reviewer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9AA8B4"/>
                </a:solidFill>
                <a:latin typeface="Calibri"/>
                <a:ea typeface="Microsoft YaHei"/>
                <a:cs typeface="Microsoft YaHei"/>
              </a:rPr>
              <a:t>Prof. Yi-Kuen Lee  ·  September 2026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9AA8B4"/>
                </a:solidFill>
                <a:latin typeface="Calibri"/>
                <a:ea typeface="Microsoft YaHei"/>
                <a:cs typeface="Microsoft YaHei"/>
              </a:rPr>
              <a:t>Prose CC BY 4.0 · Code Apache-2.0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A working pipeline is easy; proving it worked is the actual skill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79751"/>
            <a:ext cx="10820095" cy="3868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900" b="0" i="1">
                <a:solidFill>
                  <a:srgbClr val="595959"/>
                </a:solidFill>
                <a:latin typeface="Calibri"/>
                <a:ea typeface="Microsoft YaHei"/>
                <a:cs typeface="Microsoft YaHei"/>
              </a:rPr>
              <a:t>The governing thought of this tutorial, in one 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2720339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594609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Four commands.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Transcribe, translate, synthesize, verify. The mechanics take an afternoon to learn.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" y="3658170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3532440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Every stage fails quietly.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ASR mishears. Translators return your source text and call it a translation. Captions render off-frame.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4596001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4470271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We hit this for real.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A free translator returned untranslated English, exited 0, and defeated four of our five gates.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" y="5533832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5408102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So the subject is verification.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Gates that check output rather than exit codes, and one gate we deliberately do not automate.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Source: reviews/04-qa-report.md, Finding 1 — reproduced 2026-09-15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WHAT YOU 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One sitting takes a raw clip to a captioned output you can defend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171191"/>
            <a:ext cx="3423818" cy="2103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71191"/>
            <a:ext cx="3423818" cy="54864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3799"/>
            <a:ext cx="2966618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8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41623"/>
            <a:ext cx="296661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verification gates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79951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595959"/>
                </a:solidFill>
                <a:latin typeface="Calibri"/>
                <a:ea typeface="Microsoft YaHei"/>
                <a:cs typeface="Microsoft YaHei"/>
              </a:rPr>
              <a:t>Four mechanical, one human — the split is deliberate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3938" y="2171191"/>
            <a:ext cx="3423818" cy="2103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3938" y="2171191"/>
            <a:ext cx="3423818" cy="54864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2538" y="2463799"/>
            <a:ext cx="2966618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8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2-4h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2538" y="3341623"/>
            <a:ext cx="296661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first run, no surprises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2538" y="3679951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595959"/>
                </a:solidFill>
                <a:latin typeface="Calibri"/>
                <a:ea typeface="Microsoft YaHei"/>
                <a:cs typeface="Microsoft YaHei"/>
              </a:rPr>
              <a:t>2.5-7h honestly, once the top risk is priced 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2076" y="2171191"/>
            <a:ext cx="3423818" cy="2103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2076" y="2171191"/>
            <a:ext cx="3423818" cy="54864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0676" y="2463799"/>
            <a:ext cx="2966618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8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0676" y="3341623"/>
            <a:ext cx="296661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automated repo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0676" y="3679951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595959"/>
                </a:solidFill>
                <a:latin typeface="Calibri"/>
                <a:ea typeface="Microsoft YaHei"/>
                <a:cs typeface="Microsoft YaHei"/>
              </a:rPr>
              <a:t>Links, EN/ZH parity, gate contract, BOM safety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502911"/>
            <a:ext cx="10820095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The honest range is wider than the headline number because the single most likely failure lands mid-project, not during install.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737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6400" b="1" i="0">
                <a:solidFill>
                  <a:srgbClr val="00A6C9"/>
                </a:solidFill>
                <a:latin typeface="Calibr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0" y="2514600"/>
            <a:ext cx="9525" cy="1188720"/>
          </a:xfrm>
          <a:prstGeom prst="rect">
            <a:avLst/>
          </a:prstGeom>
          <a:solidFill>
            <a:srgbClr val="3E5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24688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Why verification is the subject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3429000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B6C5D2"/>
                </a:solidFill>
                <a:latin typeface="Calibri"/>
                <a:ea typeface="Microsoft YaHei"/>
                <a:cs typeface="Microsoft YaHei"/>
              </a:rPr>
              <a:t>Three ways this pipeline lies to you, and the one that cost us a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9AA8B4"/>
                </a:solidFill>
                <a:latin typeface="Calibr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Each stage can report success while producing the wrong artifact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079751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2152903"/>
            <a:ext cx="1841514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74786" y="2152903"/>
            <a:ext cx="5448212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How it fails quietly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2454" y="2152903"/>
            <a:ext cx="2871999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What catches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599180"/>
            <a:ext cx="1841514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Transcribe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4786" y="2599180"/>
            <a:ext cx="5448212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ASR mishears a word and writes something plausible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2454" y="2599180"/>
            <a:ext cx="2871999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A human reading the transcript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35406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354068"/>
            <a:ext cx="10820095" cy="828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3427220"/>
            <a:ext cx="1841514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Translate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74786" y="3427220"/>
            <a:ext cx="5448212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Service rate-limits, swallows the error, returns your ENGLISH as the translation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2454" y="3427220"/>
            <a:ext cx="2871999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Gate T3b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18210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4255260"/>
            <a:ext cx="1841514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Translate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74786" y="4255260"/>
            <a:ext cx="5448212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A different translator runs than the one you asked for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2454" y="4255260"/>
            <a:ext cx="2871999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Gate T2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01014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5010148"/>
            <a:ext cx="10820095" cy="828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5083300"/>
            <a:ext cx="1841514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Synthesize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74786" y="5083300"/>
            <a:ext cx="5448212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Captions render off-frame or overlap text burned into the source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2454" y="5083300"/>
            <a:ext cx="2871999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Gate T4 + your eyes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83818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2103120"/>
            <a:ext cx="54864" cy="237744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69164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7FC4E8"/>
                </a:solidFill>
                <a:latin typeface="Calibri"/>
                <a:ea typeface="Microsoft YaHei"/>
                <a:cs typeface="Microsoft YaHei"/>
              </a:rPr>
              <a:t>THE ONE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148840"/>
            <a:ext cx="9692640" cy="1357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"✓ Done" is a string.
The output file is the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66344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9AA8B4"/>
                </a:solidFill>
                <a:latin typeface="Calibri"/>
                <a:ea typeface="Microsoft YaHei"/>
                <a:cs typeface="Microsoft YaHei"/>
              </a:rPr>
              <a:t>The same lesson as gstack Tutorial #2's "'PASS' is a string, the log is the evidence" — different domain, identical discipline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9AA8B4"/>
                </a:solidFill>
                <a:latin typeface="Calibri"/>
                <a:ea typeface="Microsoft YaHei"/>
                <a:cs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THE INCIDENT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A free translator returned our English text and reported success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079751"/>
            <a:ext cx="10820095" cy="3021583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079751"/>
            <a:ext cx="45720" cy="3021583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08351"/>
            <a:ext cx="10271455" cy="25643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$ videocaptioner subtitle probe.srt --translator google \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    --target-language zh-Hans --layout target-only -o out.srt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ERROR - Google translation failed (x2): 429 Too Many Requests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OK Done -&gt; out.srt (2 segments)   exit code: 0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$ cat out.srt        # both lines still English: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hello this is a short test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of the translation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329934"/>
            <a:ext cx="10820095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Logged, swallowed, exit 0, correct count, well-formed file — the only thing wrong was zero Chinese.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Observed 2026-09-15, videocaptioner 1.4.2, Windows 11, Hong Kong 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WHY IT MATTERED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Four of our five gates passed on that file — the chain verified everything except translation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079751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2152903"/>
            <a:ext cx="3045227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78499" y="2152903"/>
            <a:ext cx="1272970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Verdict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0925" y="2152903"/>
            <a:ext cx="5843528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Why it missed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599180"/>
            <a:ext cx="3045227" cy="377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T1 transcription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78499" y="2599180"/>
            <a:ext cx="1272970" cy="377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E7A4D"/>
                </a:solidFill>
                <a:latin typeface="Calibr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0925" y="2599180"/>
            <a:ext cx="5843528" cy="377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The source .srt was genuinely fine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013200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013200"/>
            <a:ext cx="10820095" cy="828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3086352"/>
            <a:ext cx="3045227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T2 translator provenance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8499" y="3086352"/>
            <a:ext cx="1272970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E7A4D"/>
                </a:solidFill>
                <a:latin typeface="Calibr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0925" y="3086352"/>
            <a:ext cx="5843528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The service really was google — as requested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841240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3914392"/>
            <a:ext cx="3045227" cy="377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T3 segment parity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8499" y="3914392"/>
            <a:ext cx="1272970" cy="377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E7A4D"/>
                </a:solidFill>
                <a:latin typeface="Calibr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0925" y="3914392"/>
            <a:ext cx="5843528" cy="377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2 segments in, 2 segments out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328412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328412"/>
            <a:ext cx="10820095" cy="828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4401564"/>
            <a:ext cx="3045227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T4 synthesis fidelity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78499" y="4401564"/>
            <a:ext cx="1272970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E7A4D"/>
                </a:solidFill>
                <a:latin typeface="Calibr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0925" y="4401564"/>
            <a:ext cx="5843528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Video structurally perfect, just with English on 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156452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" y="5229604"/>
            <a:ext cx="3045227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T3b — did NOT exist yet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78499" y="5229604"/>
            <a:ext cx="1272970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A31D1D"/>
                </a:solidFill>
                <a:latin typeface="Calibri"/>
                <a:ea typeface="Microsoft YaHei"/>
                <a:cs typeface="Microsoft YaHei"/>
              </a:rPr>
              <a:t>FAIL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0925" y="5229604"/>
            <a:ext cx="5843528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Added because of this incident. Now the only gate that catches it.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5984492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Source: reviews/04-qa-report.md Finding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737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6400" b="1" i="0">
                <a:solidFill>
                  <a:srgbClr val="00A6C9"/>
                </a:solidFill>
                <a:latin typeface="Calibr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0" y="2514600"/>
            <a:ext cx="9525" cy="1188720"/>
          </a:xfrm>
          <a:prstGeom prst="rect">
            <a:avLst/>
          </a:prstGeom>
          <a:solidFill>
            <a:srgbClr val="3E5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24688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The pipeline and its gates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3429000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B6C5D2"/>
                </a:solidFill>
                <a:latin typeface="Calibri"/>
                <a:ea typeface="Microsoft YaHei"/>
                <a:cs typeface="Microsoft YaHei"/>
              </a:rPr>
              <a:t>Four commands, one human read-through, five gates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9AA8B4"/>
                </a:solidFill>
                <a:latin typeface="Calibri"/>
                <a:ea typeface="Microsoft YaHei"/>
                <a:cs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Four stages, with a mandatory human read between transcription and translation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entagon 4"/>
          <p:cNvSpPr/>
          <p:nvPr/>
        </p:nvSpPr>
        <p:spPr>
          <a:xfrm>
            <a:off x="685800" y="2216911"/>
            <a:ext cx="2595295" cy="1737360"/>
          </a:xfrm>
          <a:prstGeom prst="homePlate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418079"/>
            <a:ext cx="1909495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1  Transcribe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875279"/>
            <a:ext cx="1909495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D6E2EC"/>
                </a:solidFill>
                <a:latin typeface="Calibri"/>
                <a:ea typeface="Microsoft YaHei"/>
                <a:cs typeface="Microsoft YaHei"/>
              </a:rPr>
              <a:t>ASR to English .srt. Free bijian engine, no setup.</a:t>
            </a:r>
          </a:p>
        </p:txBody>
      </p:sp>
      <p:sp>
        <p:nvSpPr>
          <p:cNvPr id="8" name="Pentagon 7"/>
          <p:cNvSpPr/>
          <p:nvPr/>
        </p:nvSpPr>
        <p:spPr>
          <a:xfrm>
            <a:off x="3427399" y="2216911"/>
            <a:ext cx="2595295" cy="1737360"/>
          </a:xfrm>
          <a:prstGeom prst="homePlate">
            <a:avLst/>
          </a:prstGeom>
          <a:solidFill>
            <a:srgbClr val="2E62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8567" y="2418079"/>
            <a:ext cx="1909495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2  Correct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8567" y="2875279"/>
            <a:ext cx="1909495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D6E2EC"/>
                </a:solidFill>
                <a:latin typeface="Calibri"/>
                <a:ea typeface="Microsoft YaHei"/>
                <a:cs typeface="Microsoft YaHei"/>
              </a:rPr>
              <a:t>You read it. Fix ASR errors here or translate them later.</a:t>
            </a:r>
          </a:p>
        </p:txBody>
      </p:sp>
      <p:sp>
        <p:nvSpPr>
          <p:cNvPr id="11" name="Pentagon 10"/>
          <p:cNvSpPr/>
          <p:nvPr/>
        </p:nvSpPr>
        <p:spPr>
          <a:xfrm>
            <a:off x="6168998" y="2216911"/>
            <a:ext cx="2595295" cy="1737360"/>
          </a:xfrm>
          <a:prstGeom prst="homePlate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0166" y="2418079"/>
            <a:ext cx="1909495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3  Translate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6" y="2875279"/>
            <a:ext cx="1909495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D6E2EC"/>
                </a:solidFill>
                <a:latin typeface="Calibri"/>
                <a:ea typeface="Microsoft YaHei"/>
                <a:cs typeface="Microsoft YaHei"/>
              </a:rPr>
              <a:t>Chinese-only output. Translator chosen for YOUR access.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10597" y="2216911"/>
            <a:ext cx="2595295" cy="1737360"/>
          </a:xfrm>
          <a:prstGeom prst="rect">
            <a:avLst/>
          </a:prstGeom>
          <a:solidFill>
            <a:srgbClr val="2E62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11765" y="2418079"/>
            <a:ext cx="1909495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4  Synthesize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1765" y="2875279"/>
            <a:ext cx="1909495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D6E2EC"/>
                </a:solidFill>
                <a:latin typeface="Calibri"/>
                <a:ea typeface="Microsoft YaHei"/>
                <a:cs typeface="Microsoft YaHei"/>
              </a:rPr>
              <a:t>Burn captions in. Style and position controlled.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28591"/>
            <a:ext cx="10820095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Stage 2 is the step everyone skips. Our pilot caught three real ASR errors there — two minutes to fix in English, a translation-quality problem if allowed through.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THE GATE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Four gates run as code; the fifth needs a bilingual human and we say so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079751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2152903"/>
            <a:ext cx="1354376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87648" y="2152903"/>
            <a:ext cx="7059517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66621" y="2152903"/>
            <a:ext cx="1747834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Mechanical?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599180"/>
            <a:ext cx="1354376" cy="377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87648" y="2599180"/>
            <a:ext cx="7059517" cy="377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Transcription produced segments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66621" y="2599180"/>
            <a:ext cx="1747834" cy="377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Yes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013200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013200"/>
            <a:ext cx="10820095" cy="48717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3086352"/>
            <a:ext cx="1354376" cy="377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87648" y="3086352"/>
            <a:ext cx="7059517" cy="377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The translator that ran is the one you asked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66621" y="3086352"/>
            <a:ext cx="1747834" cy="377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Yes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00372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3573524"/>
            <a:ext cx="1354376" cy="377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87648" y="3573524"/>
            <a:ext cx="7059517" cy="377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No segments dropped or merged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66621" y="3573524"/>
            <a:ext cx="1747834" cy="377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Yes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987544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987544"/>
            <a:ext cx="10820095" cy="828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4060696"/>
            <a:ext cx="1354376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T3b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87648" y="4060696"/>
            <a:ext cx="7059517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Translation actually happened — not English passthrough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66621" y="4060696"/>
            <a:ext cx="1747834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Yes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815584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" y="4888736"/>
            <a:ext cx="1354376" cy="377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87648" y="4888736"/>
            <a:ext cx="7059517" cy="377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Output matches source resolution and duration exactly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66621" y="4888736"/>
            <a:ext cx="1747834" cy="377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Yes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5302756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5302756"/>
            <a:ext cx="10820095" cy="48717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" y="5375908"/>
            <a:ext cx="1354376" cy="377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87648" y="5375908"/>
            <a:ext cx="7059517" cy="377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The Chinese is faithful and natural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66621" y="5375908"/>
            <a:ext cx="1747834" cy="377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No — human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578992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THE CIRCULARITY TRAP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Never verify an artifact against something derived from itself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079751"/>
            <a:ext cx="5250027" cy="413816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079751"/>
            <a:ext cx="5250027" cy="502920"/>
          </a:xfrm>
          <a:prstGeom prst="rect">
            <a:avLst/>
          </a:prstGeom>
          <a:solidFill>
            <a:srgbClr val="A3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198623"/>
            <a:ext cx="48111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Tempting, and worthless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2792983"/>
            <a:ext cx="4811115" cy="33152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OCR the burned-in captions from the finished video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Diff that text against the .srt you used to make it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It will match. It proves synthesis didn't corrupt the text.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It says NOTHING about whether the Chinese is a correct translation.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55867" y="2079751"/>
            <a:ext cx="5250027" cy="413816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55867" y="2079751"/>
            <a:ext cx="5250027" cy="502920"/>
          </a:xfrm>
          <a:prstGeom prst="rect">
            <a:avLst/>
          </a:prstGeom>
          <a:solidFill>
            <a:srgbClr val="1E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5323" y="2198623"/>
            <a:ext cx="48111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What the script does instead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5323" y="2792983"/>
            <a:ext cx="4811115" cy="33152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Pass --ocr-check and run_gates.py exits 2 — VOID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Not 0 (pass), not 1 (fail). A third, distinct state.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VOID = the check ran but proved nothing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Compare English .srt to Chinese .srt directly. Never the video.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Same lesson as Tutorial #2's LVS circularity trap, transplanted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737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6400" b="1" i="0">
                <a:solidFill>
                  <a:srgbClr val="00A6C9"/>
                </a:solidFill>
                <a:latin typeface="Calibr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0" y="2514600"/>
            <a:ext cx="9525" cy="1188720"/>
          </a:xfrm>
          <a:prstGeom prst="rect">
            <a:avLst/>
          </a:prstGeom>
          <a:solidFill>
            <a:srgbClr val="3E5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24688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Setup, and the choice we got wrong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3429000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B6C5D2"/>
                </a:solidFill>
                <a:latin typeface="Calibri"/>
                <a:ea typeface="Microsoft YaHei"/>
                <a:cs typeface="Microsoft YaHei"/>
              </a:rPr>
              <a:t>Install is easy. Choosing a translator is where readers diverge.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9AA8B4"/>
                </a:solidFill>
                <a:latin typeface="Calibr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INSTALL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Three components, one version constraint that actually bites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79751"/>
            <a:ext cx="10820095" cy="3868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900" b="0" i="1">
                <a:solidFill>
                  <a:srgbClr val="595959"/>
                </a:solidFill>
                <a:latin typeface="Calibri"/>
                <a:ea typeface="Microsoft YaHei"/>
                <a:cs typeface="Microsoft YaHei"/>
              </a:rPr>
              <a:t>Full step-by-step for Windows 11, macOS and Linux: starter/INSTALL.md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594609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2667761"/>
            <a:ext cx="2338021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Component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71293" y="2667761"/>
            <a:ext cx="2731479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Constraint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2228" y="2667761"/>
            <a:ext cx="5092227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3114038"/>
            <a:ext cx="2338021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71293" y="3114038"/>
            <a:ext cx="2731479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&gt;=3.10, &lt;3.13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2228" y="3114038"/>
            <a:ext cx="5092227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videocaptioner requirement. 3.13 is NOT supported — check first.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99287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992878"/>
            <a:ext cx="10820095" cy="95199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4066030"/>
            <a:ext cx="2338021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FFmpeg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1293" y="4066030"/>
            <a:ext cx="2731479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any recent 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2228" y="4066030"/>
            <a:ext cx="5092227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Audio extraction, caption burn-in, and every verification gate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944870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" y="5018022"/>
            <a:ext cx="2338021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videocaptioner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1293" y="5018022"/>
            <a:ext cx="2731479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pip install videocaptioner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2228" y="5018022"/>
            <a:ext cx="5092227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The pipeline itself. Verify with `videocaptioner doctor`.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896862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TRANSLATOR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Do not copy our translator — your access is not our 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79751"/>
            <a:ext cx="10820095" cy="7005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900" b="0" i="1">
                <a:solidFill>
                  <a:srgbClr val="595959"/>
                </a:solidFill>
                <a:latin typeface="Calibri"/>
                <a:ea typeface="Microsoft YaHei"/>
                <a:cs typeface="Microsoft YaHei"/>
              </a:rPr>
              <a:t>The first draft told readers to use --translator llm and never fall back — our API setup restated as a universal rule.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908299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2981451"/>
            <a:ext cx="3459376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Reality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2648" y="2981451"/>
            <a:ext cx="6921806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What that means for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3427728"/>
            <a:ext cx="3459376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Default is bing, not 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2648" y="3427728"/>
            <a:ext cx="6921806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Omit the flag and you silently get Bing — every command here names the translator explicitly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058664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4058664"/>
            <a:ext cx="10820095" cy="7040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4131816"/>
            <a:ext cx="3459376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Free still needs a key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2648" y="4131816"/>
            <a:ext cx="6921806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Split/Optimize are LLM steps regardless of translator; keyless readers also need --no-optimize --no-split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762752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4835904"/>
            <a:ext cx="3459376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Region beats budget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2648" y="4835904"/>
            <a:ext cx="6921806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Behind a restrictive firewall, Google/Bing are often unreachable; a domestic LLM endpoint usually isn't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5466840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5466840"/>
            <a:ext cx="10820095" cy="7040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" y="5539992"/>
            <a:ext cx="3459376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Cost is rarely the barrier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2648" y="5539992"/>
            <a:ext cx="6921806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An hour of speech costs less than a coffee — obtaining a key and payment method is the real hurdle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617092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Full decision guide: docs/choosing_a_translator.md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OBSERVED AVAILABILITY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Both free options failed for us — one loudly, one silently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79751"/>
            <a:ext cx="10820095" cy="7005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900" b="0" i="1">
                <a:solidFill>
                  <a:srgbClr val="595959"/>
                </a:solidFill>
                <a:latin typeface="Calibri"/>
                <a:ea typeface="Microsoft YaHei"/>
                <a:cs typeface="Microsoft YaHei"/>
              </a:rPr>
              <a:t>Tested 2026-09-15 from Hong Kong. YOUR results may differ — that is the whole point. Re-run the probe yourself.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908299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2981451"/>
            <a:ext cx="1747834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1106" y="2981451"/>
            <a:ext cx="1551105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667" y="2981451"/>
            <a:ext cx="6862788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Result on our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3427728"/>
            <a:ext cx="1747834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llm` (DeepSeek)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1106" y="3427728"/>
            <a:ext cx="1551105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Paid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1667" y="3427728"/>
            <a:ext cx="6862788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Worked. Fluent across a 32-segment and a 1086-segment clip.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244592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244592"/>
            <a:ext cx="10820095" cy="89001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4317744"/>
            <a:ext cx="1747834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bing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1106" y="4317744"/>
            <a:ext cx="1551105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Free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1667" y="4317744"/>
            <a:ext cx="6862788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A31D1D"/>
                </a:solidFill>
                <a:latin typeface="Calibri"/>
                <a:ea typeface="Microsoft YaHei"/>
                <a:cs typeface="Microsoft YaHei"/>
              </a:rPr>
              <a:t>FAIL — 404 on the auth endpoint. Loud, so no bad artifact shipped.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513460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" y="5207760"/>
            <a:ext cx="1747834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google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1106" y="5207760"/>
            <a:ext cx="1551105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Free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1667" y="5207760"/>
            <a:ext cx="6862788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Silently emitted untranslated English and exited 0. The dangerous one.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6024624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A service that degrades silently is more dangerous than one that fails loudly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TWO-MINUTE PROBE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Probe your access on two segments before committing to a 41-minute clip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079751"/>
            <a:ext cx="10820095" cy="297078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079751"/>
            <a:ext cx="45720" cy="2970784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08351"/>
            <a:ext cx="10271455" cy="251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Consolas"/>
                <a:ea typeface="Consolas"/>
                <a:cs typeface="Consolas"/>
              </a:rPr>
              <a:t># 1. Make a 2-segment probe.srt, then: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videocaptioner subtitle probe.srt --translator llm \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  --target-language zh-Hans --layout target-only -o probe_out.srt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Consolas"/>
                <a:ea typeface="Consolas"/>
                <a:cs typeface="Consolas"/>
              </a:rPr>
              <a:t># 2. Then actually OPEN probe_out.srt and look at it.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Consolas"/>
                <a:ea typeface="Consolas"/>
                <a:cs typeface="Consolas"/>
              </a:rPr>
              <a:t>#    Chinese text          -&gt; good, proceed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Consolas"/>
                <a:ea typeface="Consolas"/>
                <a:cs typeface="Consolas"/>
              </a:rPr>
              <a:t>#    A loud error          -&gt; try another option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Consolas"/>
                <a:ea typeface="Consolas"/>
                <a:cs typeface="Consolas"/>
              </a:rPr>
              <a:t>#    English + 'OK Done'   -&gt; silent passthrough, do NOT proceed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279135"/>
            <a:ext cx="10820095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Outcome three is the one that costs people a day. Look at the file.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737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6400" b="1" i="0">
                <a:solidFill>
                  <a:srgbClr val="00A6C9"/>
                </a:solidFill>
                <a:latin typeface="Calibr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0" y="2514600"/>
            <a:ext cx="9525" cy="1188720"/>
          </a:xfrm>
          <a:prstGeom prst="rect">
            <a:avLst/>
          </a:prstGeom>
          <a:solidFill>
            <a:srgbClr val="3E5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24688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Running the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3429000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B6C5D2"/>
                </a:solidFill>
                <a:latin typeface="Calibri"/>
                <a:ea typeface="Microsoft YaHei"/>
                <a:cs typeface="Microsoft YaHei"/>
              </a:rPr>
              <a:t>Transcribe, read, translate, synthesize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9AA8B4"/>
                </a:solidFill>
                <a:latin typeface="Calibri"/>
                <a:ea typeface="Microsoft YaHei"/>
                <a:cs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STAGE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Reading the transcript caught three real errors in an 89-second clip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79751"/>
            <a:ext cx="10820095" cy="7005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900" b="0" i="1">
                <a:solidFill>
                  <a:srgbClr val="595959"/>
                </a:solidFill>
                <a:latin typeface="Calibri"/>
                <a:ea typeface="Microsoft YaHei"/>
                <a:cs typeface="Microsoft YaHei"/>
              </a:rPr>
              <a:t>Two minutes to fix in English. A translation-quality problem forever if allowed through. Edit text lines only — never the indices or timestamps.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908299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2981451"/>
            <a:ext cx="3715124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ASR wrote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8396" y="2981451"/>
            <a:ext cx="3715124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Should 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2976" y="2981451"/>
            <a:ext cx="2731479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Cost if missed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3427728"/>
            <a:ext cx="3715124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8396" y="3427728"/>
            <a:ext cx="3715124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2976" y="3427728"/>
            <a:ext cx="2731479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Translated as a common noun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244592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244592"/>
            <a:ext cx="10820095" cy="89001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4317744"/>
            <a:ext cx="3715124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home humanoid robots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8396" y="4317744"/>
            <a:ext cx="3715124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humanoid robots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2976" y="4317744"/>
            <a:ext cx="2731479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A word that was never said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513460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" y="5207760"/>
            <a:ext cx="3715124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neural netells 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48396" y="5207760"/>
            <a:ext cx="3715124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neural network tells 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2976" y="5207760"/>
            <a:ext cx="2731479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Garbled input, garbled output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6024624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STAGES 3-4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Go straight to Chinese-only output, then check provenance immediately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079751"/>
            <a:ext cx="10820095" cy="331215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079751"/>
            <a:ext cx="45720" cy="3312159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08351"/>
            <a:ext cx="10271455" cy="2854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595959"/>
                </a:solidFill>
                <a:latin typeface="Consolas"/>
                <a:ea typeface="Consolas"/>
                <a:cs typeface="Consolas"/>
              </a:rPr>
              <a:t># Translate — target-only avoids a bilingual file you'd have to redo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videocaptioner subtitle clip.srt --translator llm \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  --target-language zh-Hans --layout target-only -o clip_zh.srt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595959"/>
                </a:solidFill>
                <a:latin typeface="Consolas"/>
                <a:ea typeface="Consolas"/>
                <a:cs typeface="Consolas"/>
              </a:rPr>
              <a:t># Gate T2 — run this IMMEDIATELY after the translate you care about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videocaptioner config show        # confirm translate.service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595959"/>
                </a:solidFill>
                <a:latin typeface="Consolas"/>
                <a:ea typeface="Consolas"/>
                <a:cs typeface="Consolas"/>
              </a:rPr>
              <a:t># Synthesize — version-suffix so attempts are comparable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videocaptioner synthesize clip.mp4 -s clip_zh.srt \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  --subtitle-mode hard --style default -o clip_captioned_v1.mp4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620510"/>
            <a:ext cx="10820095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config show reports CURRENT state, not per-invocation history. Batch several translations before checking and the gate is useless.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BEFORE YOU STYLE ANYTHING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Check the source for burned-in captions first — they are pixels, not subtitles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79751"/>
            <a:ext cx="10820095" cy="3868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900" b="0" i="1">
                <a:solidFill>
                  <a:srgbClr val="595959"/>
                </a:solidFill>
                <a:latin typeface="Calibri"/>
                <a:ea typeface="Microsoft YaHei"/>
                <a:cs typeface="Microsoft YaHei"/>
              </a:rPr>
              <a:t>Grab 2-3 frames spread across the clip. A caption may only appear during certain moments.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2720339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594609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If you find text: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It is fused into the frames. To ffmpeg it is indistinguishable from someone's face. No subtitle tool can remove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" y="3584955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3459225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Your options: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A clean source export, AI inpainting (often blurry), crop the region, or position your Chinese captions clear of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4449571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4323841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Raise margin_bottom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to lift captions above the existing band. Our first pilot clip needed this; the second did not.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" y="5314187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5188457"/>
            <a:ext cx="10527487" cy="1077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Windows PowerShell warning: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--style-override JSON needs backslash-escaped quotes: '{\"font_size\":56}'. Otherwise quotes are stripped before the program sees them.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737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6400" b="1" i="0">
                <a:solidFill>
                  <a:srgbClr val="00A6C9"/>
                </a:solidFill>
                <a:latin typeface="Calibr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0" y="2514600"/>
            <a:ext cx="9525" cy="1188720"/>
          </a:xfrm>
          <a:prstGeom prst="rect">
            <a:avLst/>
          </a:prstGeom>
          <a:solidFill>
            <a:srgbClr val="3E5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24688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3429000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B6C5D2"/>
                </a:solidFill>
                <a:latin typeface="Calibri"/>
                <a:ea typeface="Microsoft YaHei"/>
                <a:cs typeface="Microsoft YaHei"/>
              </a:rPr>
              <a:t>The actual point of the tutorial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9AA8B4"/>
                </a:solidFill>
                <a:latin typeface="Calibri"/>
                <a:ea typeface="Microsoft YaHei"/>
                <a:cs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GATES T1-T4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One command runs every mechanical gate against real artifacts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079751"/>
            <a:ext cx="10820095" cy="3602735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079751"/>
            <a:ext cx="45720" cy="360273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08351"/>
            <a:ext cx="10271455" cy="3145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$ python starter/scripts/run_gates.py \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    --source-video clip.mp4  --source-srt clip.srt \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    --target-srt clip_zh.srt --output-video clip_captioned_v2.mp4 \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    --translator llm --target-language zh-Hans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1E7A4D"/>
                </a:solidFill>
                <a:latin typeface="Consolas"/>
                <a:ea typeface="Consolas"/>
                <a:cs typeface="Consolas"/>
              </a:rPr>
              <a:t>T1 PASS - clip.srt: 32 segments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1E7A4D"/>
                </a:solidFill>
                <a:latin typeface="Consolas"/>
                <a:ea typeface="Consolas"/>
                <a:cs typeface="Consolas"/>
              </a:rPr>
              <a:t>T2 PASS - translate.service = llm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1E7A4D"/>
                </a:solidFill>
                <a:latin typeface="Consolas"/>
                <a:ea typeface="Consolas"/>
                <a:cs typeface="Consolas"/>
              </a:rPr>
              <a:t>T3 PASS - 32 segments in both source and target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1E7A4D"/>
                </a:solidFill>
                <a:latin typeface="Consolas"/>
                <a:ea typeface="Consolas"/>
                <a:cs typeface="Consolas"/>
              </a:rPr>
              <a:t>T3b PASS - target is genuinely translated, not source passthrough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1E7A4D"/>
                </a:solidFill>
                <a:latin typeface="Consolas"/>
                <a:ea typeface="Consolas"/>
                <a:cs typeface="Consolas"/>
              </a:rPr>
              <a:t>T4 PASS - 1080x596, 89.131s (source) vs 89.131s (output)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T5 NOT AUTO-VERIFIED - run the procedure by hand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Verified against the pilot's own artifacts — reviews/03-eng-review.md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EXIT-CODE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VOID gets its own exit code so "meaningless" can never print as "success"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079751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2152903"/>
            <a:ext cx="952720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5992" y="2152903"/>
            <a:ext cx="2936405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Meaning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41853" y="2152903"/>
            <a:ext cx="6272601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What you should 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599180"/>
            <a:ext cx="952720" cy="4394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85992" y="2599180"/>
            <a:ext cx="2936405" cy="4394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T1-T4 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41853" y="2599180"/>
            <a:ext cx="6272601" cy="4394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Proceed to Gate T5 by hand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075176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075176"/>
            <a:ext cx="10820095" cy="95199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3148328"/>
            <a:ext cx="952720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85992" y="3148328"/>
            <a:ext cx="2936405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A31D1D"/>
                </a:solidFill>
                <a:latin typeface="Calibri"/>
                <a:ea typeface="Microsoft YaHei"/>
                <a:cs typeface="Microsoft YaHei"/>
              </a:rPr>
              <a:t>FAIL — a gate caught a real defect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1853" y="3148328"/>
            <a:ext cx="6272601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Fix the artifact, never the gate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02716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4100320"/>
            <a:ext cx="952720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85992" y="4100320"/>
            <a:ext cx="2936405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A31D1D"/>
                </a:solidFill>
                <a:latin typeface="Calibri"/>
                <a:ea typeface="Microsoft YaHei"/>
                <a:cs typeface="Microsoft YaHei"/>
              </a:rPr>
              <a:t>VOID — the check was self-referential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1853" y="4100320"/>
            <a:ext cx="6272601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Alert separately. Not a retry — the check proved nothing.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979160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979160"/>
            <a:ext cx="10820095" cy="95199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5052312"/>
            <a:ext cx="952720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85992" y="5052312"/>
            <a:ext cx="2936405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Environment error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1853" y="5052312"/>
            <a:ext cx="6272601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Missing tool or file. Nothing was verified.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931152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Mirrors Tutorial #2's run_all.sh contract — the single most important design decision in either repo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GATE T5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The one gate we refuse to automate, with a procedure instead of a hope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79751"/>
            <a:ext cx="10820095" cy="7005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900" b="0" i="1">
                <a:solidFill>
                  <a:srgbClr val="595959"/>
                </a:solidFill>
                <a:latin typeface="Calibri"/>
                <a:ea typeface="Microsoft YaHei"/>
                <a:cs typeface="Microsoft YaHei"/>
              </a:rPr>
              <a:t>gstack's process roles can count segments and diff durations. None of them can read Chinese and judge whether it carries the meaning.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034029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908299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Inputs: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the English .srt and the Chinese .srt. NEVER the video — that is the circular check.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" y="3898645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3772915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Sample: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segments 1-5, a block at ~50%, and the last 5. Note the source's register first as calibration.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4763261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4637531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Four questions per segment: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Meaning preserved? Natural not literal? Nothing hallucinated or dropped? Proper nouns and idioms right?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" y="5627877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5502147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Verdict: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PASS, or PASS-WITH-FLAG naming the segment. A flagged run is not done until a human resolves each flag in writing.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Full contract, RACI and defer clause: docs/expertise_division.md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737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6400" b="1" i="0">
                <a:solidFill>
                  <a:srgbClr val="00A6C9"/>
                </a:solidFill>
                <a:latin typeface="Calibr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0" y="2514600"/>
            <a:ext cx="9525" cy="1188720"/>
          </a:xfrm>
          <a:prstGeom prst="rect">
            <a:avLst/>
          </a:prstGeom>
          <a:solidFill>
            <a:srgbClr val="3E5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24688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What transfers to your next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3429000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B6C5D2"/>
                </a:solidFill>
                <a:latin typeface="Calibri"/>
                <a:ea typeface="Microsoft YaHei"/>
                <a:cs typeface="Microsoft YaHei"/>
              </a:rPr>
              <a:t>Five disciplines that outlive this particular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9AA8B4"/>
                </a:solidFill>
                <a:latin typeface="Calibri"/>
                <a:ea typeface="Microsoft YaHei"/>
                <a:cs typeface="Microsoft YaHei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PITFALL LEDGER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Every one of these reported success at least once before being caught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079751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2152903"/>
            <a:ext cx="3567577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Symptom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00849" y="2152903"/>
            <a:ext cx="2846237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Cause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66542" y="2152903"/>
            <a:ext cx="3747912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Fix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599180"/>
            <a:ext cx="3567577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Translation "succeeded", output is English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0849" y="2599180"/>
            <a:ext cx="2846237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Free translator swallowed a 429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66542" y="2599180"/>
            <a:ext cx="374791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Gate T3b; switch translators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230116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230116"/>
            <a:ext cx="10820095" cy="7040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3303268"/>
            <a:ext cx="3567577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JSON error on a correct-looking command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0849" y="3303268"/>
            <a:ext cx="2846237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PowerShell stripped the quotes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6542" y="3303268"/>
            <a:ext cx="374791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Backslash-escape: `'{\"k\":1}'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934204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4007356"/>
            <a:ext cx="3567577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Gate T1 counts one segment short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0849" y="4007356"/>
            <a:ext cx="2846237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UTF-8 BOM on the first 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6542" y="4007356"/>
            <a:ext cx="374791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Read with `utf-8-sig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638292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638292"/>
            <a:ext cx="10820095" cy="7040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4711444"/>
            <a:ext cx="3567577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Chinese captions overlap on-screen 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0849" y="4711444"/>
            <a:ext cx="2846237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Source has burned-in captions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6542" y="4711444"/>
            <a:ext cx="374791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Raise `margin_bottom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342380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" y="5415532"/>
            <a:ext cx="3567577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command not found` after a good install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00849" y="5415532"/>
            <a:ext cx="2846237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Scripts dir not on PATH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66542" y="5415532"/>
            <a:ext cx="374791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Add it, reopen the terminal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604646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The BOM bug was ours — found only because a test file came from PowerShell, not from videocaptioner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TRANSFERABLE DISCIPLINES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Five habits that apply to any pipeline where a wrong artifact is expensive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079751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2152903"/>
            <a:ext cx="3675778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Discipline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050" y="2152903"/>
            <a:ext cx="6705404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2599180"/>
            <a:ext cx="3675778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Check the output, not the exit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050" y="2599180"/>
            <a:ext cx="6705404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Every failure in our pitfall ledger reported success at least once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230116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230116"/>
            <a:ext cx="10820095" cy="7040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3303268"/>
            <a:ext cx="3675778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Never verify an artifact against itself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050" y="3303268"/>
            <a:ext cx="6705404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OCR-vs-own-srt here; an LVS netlist derived from the GDS under test in Tutorial #2 — same error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934204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4007356"/>
            <a:ext cx="3675778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Give "meaningless" its own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050" y="4007356"/>
            <a:ext cx="6705404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VOID has a distinct exit code so it can never be mistaken for PASS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638292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638292"/>
            <a:ext cx="10820095" cy="7040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" y="4711444"/>
            <a:ext cx="3675778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Name the gap you cannot close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050" y="4711444"/>
            <a:ext cx="6705404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Gate T5 is not automated and the docs say so, not implying full coverage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342380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" y="5415532"/>
            <a:ext cx="3675778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The reader's environment is not 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050" y="5415532"/>
            <a:ext cx="6705404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The translator-choice chapter exists because our first draft handed down our own API setup as a rule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604646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THE SERIES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Tutorial #3 tests whether the pattern still pays on an easy subject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79751"/>
            <a:ext cx="10820095" cy="7005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900" b="0" i="1">
                <a:solidFill>
                  <a:srgbClr val="595959"/>
                </a:solidFill>
                <a:latin typeface="Calibri"/>
                <a:ea typeface="Microsoft YaHei"/>
                <a:cs typeface="Microsoft YaHei"/>
              </a:rPr>
              <a:t>Answer: yes, but the authority split is lighter. One domain reviewer, not two, and its veto fires on exactly one gate.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908299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2981451"/>
            <a:ext cx="2124897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8169" y="2981451"/>
            <a:ext cx="2124897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Tutorial 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02522" y="2981451"/>
            <a:ext cx="2846237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Tutorial #2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68215" y="2981451"/>
            <a:ext cx="2846237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Tutorial #3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3427728"/>
            <a:ext cx="2124897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Carrier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8169" y="3427728"/>
            <a:ext cx="2124897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hello_world.py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2522" y="3427728"/>
            <a:ext cx="2846237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RTL→GDS EDA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68215" y="3427728"/>
            <a:ext cx="2846237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EN→ZH video captions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779772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779772"/>
            <a:ext cx="10820095" cy="7040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" y="3852924"/>
            <a:ext cx="2124897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8169" y="3852924"/>
            <a:ext cx="2124897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5 gstack roles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02522" y="3852924"/>
            <a:ext cx="2846237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5 roles × 2 domain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8215" y="3852924"/>
            <a:ext cx="2846237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5 roles × 1 domain reviewer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483860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" y="4557012"/>
            <a:ext cx="2124897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Proof of done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8169" y="4557012"/>
            <a:ext cx="2124897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reviews merge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02522" y="4557012"/>
            <a:ext cx="2846237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gate chain + GDS SHA match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68215" y="4557012"/>
            <a:ext cx="2846237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gates T1-T4 + T5 review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909056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909056"/>
            <a:ext cx="10820095" cy="4251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" y="4982208"/>
            <a:ext cx="2124897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Setup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8169" y="4982208"/>
            <a:ext cx="2124897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none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02522" y="4982208"/>
            <a:ext cx="2846237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multi-GB open EDA + PDK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68215" y="4982208"/>
            <a:ext cx="2846237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one pip install + FFmpeg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5334252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" y="5407404"/>
            <a:ext cx="2124897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8169" y="5407404"/>
            <a:ext cx="2124897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minutes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02522" y="5407404"/>
            <a:ext cx="2846237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10-14 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68215" y="5407404"/>
            <a:ext cx="2846237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2.5-7 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575944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DEFINITION OF DONE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Eight lines. Anything less is a draft, not a deliverable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4088" y="2205481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079751"/>
            <a:ext cx="10527487" cy="3957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Gates T1-T4 PASS — run_gates.py exits 0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2766186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640456"/>
            <a:ext cx="10527487" cy="3957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Gate T5 reviewed, every flag resolved in writing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3326891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3201161"/>
            <a:ext cx="10527487" cy="3957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config show evidence captured proving the intended translator ran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3887596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3761866"/>
            <a:ext cx="10527487" cy="3957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Output resolution and duration verified identical to 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" y="4448301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4322571"/>
            <a:ext cx="10527487" cy="3957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At least one rendered frame visually inspected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" y="5009006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4883276"/>
            <a:ext cx="10527487" cy="3957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Source checked for pre-existing burned-in captions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" y="5569711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5443981"/>
            <a:ext cx="10527487" cy="3957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versions.lock filled in — versions, provider, model, run date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" y="6130416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6004686"/>
            <a:ext cx="10527487" cy="3957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Known gaps stated in writing, not hidden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2103120"/>
            <a:ext cx="54864" cy="237744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69164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7FC4E8"/>
                </a:solidFill>
                <a:latin typeface="Calibri"/>
                <a:ea typeface="Microsoft YaHei"/>
                <a:cs typeface="Microsoft YaHei"/>
              </a:rPr>
              <a:t>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148840"/>
            <a:ext cx="9692640" cy="1357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A gate that is relaxed to pass
is not a gate.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66344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9AA8B4"/>
                </a:solidFill>
                <a:latin typeface="Calibri"/>
                <a:ea typeface="Microsoft YaHei"/>
                <a:cs typeface="Microsoft YaHei"/>
              </a:rPr>
              <a:t>gstack Tutorial series — the rule that survives every subject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9AA8B4"/>
                </a:solidFill>
                <a:latin typeface="Calibri"/>
                <a:ea typeface="Microsoft YaHei"/>
                <a:cs typeface="Microsoft YaHei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