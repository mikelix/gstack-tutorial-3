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7FC4E8"/>
                </a:solidFill>
                <a:latin typeface="Calibri"/>
                <a:ea typeface="Microsoft YaHei"/>
                <a:cs typeface="Microsoft YaHei"/>
              </a:rPr>
              <a:t>GSTACK 教程 第三部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31720"/>
            <a:ext cx="102412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英译中视频字幕：可验证的工作流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886200"/>
            <a:ext cx="9692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C9D6E0"/>
                </a:solidFill>
                <a:latin typeface="Calibri"/>
                <a:ea typeface="Microsoft YaHei"/>
                <a:cs typeface="Microsoft YaHei"/>
              </a:rPr>
              <a:t>用 videocaptioner 搭建字幕流水线 —— 并用五道关卡验证链证明输出正确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983480"/>
            <a:ext cx="1463040" cy="1905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257800"/>
            <a:ext cx="9692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9AA8B4"/>
                </a:solidFill>
                <a:latin typeface="Calibri"/>
                <a:ea typeface="Microsoft YaHei"/>
                <a:cs typeface="Microsoft YaHei"/>
              </a:rPr>
              <a:t>gstack 流程编排 + 一位领域审阅者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9AA8B4"/>
                </a:solidFill>
                <a:latin typeface="Calibri"/>
                <a:ea typeface="Microsoft YaHei"/>
                <a:cs typeface="Microsoft YaHei"/>
              </a:rPr>
              <a:t>李奕锟 教授  ·  2026 年 9 月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9AA8B4"/>
                </a:solidFill>
                <a:latin typeface="Calibri"/>
                <a:ea typeface="Microsoft YaHei"/>
                <a:cs typeface="Microsoft YaHei"/>
              </a:rPr>
              <a:t>文字 CC BY 4.0 · 代码 Apache-2.0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执行摘要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552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搭出流水线不难，证明它确实成功才是真本事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98448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108200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595959"/>
                </a:solidFill>
                <a:latin typeface="Calibri"/>
                <a:ea typeface="Microsoft YaHei"/>
                <a:cs typeface="Microsoft YaHei"/>
              </a:rPr>
              <a:t>本教程的核心论点，一句话说清。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2157984"/>
            <a:ext cx="64008" cy="64008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2048256"/>
            <a:ext cx="105640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四条命令。  </a:t>
            </a:r>
            <a:r>
              <a:rPr sz="1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转写、翻译、合成、验证。机械操作一个下午就能学会。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088" y="3108960"/>
            <a:ext cx="64008" cy="64008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999232"/>
            <a:ext cx="105640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每个阶段都会静默失败。  </a:t>
            </a:r>
            <a:r>
              <a:rPr sz="1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ASR 会听错；翻译器会把原文当译文返回；字幕会渲染到画面外。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088" y="4059936"/>
            <a:ext cx="64008" cy="64008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3950208"/>
            <a:ext cx="105640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我们真的踩到了。  </a:t>
            </a:r>
            <a:r>
              <a:rPr sz="1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一个免费翻译器返回了未翻译的英文、退出码为 0，并骗过了五道关卡中的四道。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088" y="5010912"/>
            <a:ext cx="64008" cy="64008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4901184"/>
            <a:ext cx="105640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所以本教程的主题是验证。  </a:t>
            </a:r>
            <a:r>
              <a:rPr sz="1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检查输出而非退出码的关卡，以及一道我们刻意不自动化的关卡。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55080"/>
            <a:ext cx="9601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来源：reviews/04-qa-report.md 发现 1 —— 2026-09-15 复现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91495" y="6355080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交付成果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552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一次专注работы，就能把原始片段变成经得起追问的成品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98448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920240"/>
            <a:ext cx="3423818" cy="19659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920240"/>
            <a:ext cx="3423818" cy="54864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67712"/>
            <a:ext cx="296661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035808"/>
            <a:ext cx="296661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道验证关卡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337560"/>
            <a:ext cx="29666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95959"/>
                </a:solidFill>
                <a:latin typeface="Calibri"/>
                <a:ea typeface="Microsoft YaHei"/>
                <a:cs typeface="Microsoft YaHei"/>
              </a:rPr>
              <a:t>四道机械执行，一道人工 —— 这个划分是刻意的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3938" y="1920240"/>
            <a:ext cx="3423818" cy="19659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3938" y="1920240"/>
            <a:ext cx="3423818" cy="54864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2538" y="2267712"/>
            <a:ext cx="296661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2-4 小时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2538" y="3035808"/>
            <a:ext cx="296661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首次运行，顺利情况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2538" y="3337560"/>
            <a:ext cx="29666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95959"/>
                </a:solidFill>
                <a:latin typeface="Calibri"/>
                <a:ea typeface="Microsoft YaHei"/>
                <a:cs typeface="Microsoft YaHei"/>
              </a:rPr>
              <a:t>老实说是 2.5-7 小时，把首要风险计入之后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82076" y="1920240"/>
            <a:ext cx="3423818" cy="19659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82076" y="1920240"/>
            <a:ext cx="3423818" cy="54864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0676" y="2267712"/>
            <a:ext cx="296661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63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0676" y="3035808"/>
            <a:ext cx="296661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项自动化仓库检查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0676" y="3337560"/>
            <a:ext cx="29666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95959"/>
                </a:solidFill>
                <a:latin typeface="Calibri"/>
                <a:ea typeface="Microsoft YaHei"/>
                <a:cs typeface="Microsoft YaHei"/>
              </a:rPr>
              <a:t>链接、中英对照、关卡契约、BOM 安全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251960"/>
            <a:ext cx="1082009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老实的区间比标题数字更宽，因为最可能发生的故障出现在项目中途，而不是安装阶段。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91495" y="6355080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463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0" b="1" i="0">
                <a:solidFill>
                  <a:srgbClr val="00A6C9"/>
                </a:solidFill>
                <a:latin typeface="Calibr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0" y="2606040"/>
            <a:ext cx="9525" cy="1005840"/>
          </a:xfrm>
          <a:prstGeom prst="rect">
            <a:avLst/>
          </a:prstGeom>
          <a:solidFill>
            <a:srgbClr val="3E5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697480" y="2606040"/>
            <a:ext cx="8412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为什么「验证」才是主题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97480" y="3310128"/>
            <a:ext cx="8046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B6C5D2"/>
                </a:solidFill>
                <a:latin typeface="Calibri"/>
                <a:ea typeface="Microsoft YaHei"/>
                <a:cs typeface="Microsoft YaHei"/>
              </a:rPr>
              <a:t>这条流水线骗你的三种方式，以及让我们损失一天的那一种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355080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A8B4"/>
                </a:solidFill>
                <a:latin typeface="Calibri"/>
                <a:ea typeface="Microsoft YaHei"/>
                <a:cs typeface="Microsoft YaHe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失效模式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552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每个阶段都可能一边报告成功，一边产出错误结果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98448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481328"/>
            <a:ext cx="10820095" cy="384048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1572768"/>
            <a:ext cx="187809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阶段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56498" y="1572768"/>
            <a:ext cx="548478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它如何静默失败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24166" y="1572768"/>
            <a:ext cx="290857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由谁抓住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1984248"/>
            <a:ext cx="187809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转写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56498" y="1984248"/>
            <a:ext cx="548478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ASR 听错一个词，写出看似合理的内容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24166" y="1984248"/>
            <a:ext cx="2908575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人工通读转写稿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578608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2578608"/>
            <a:ext cx="10820095" cy="7132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8" y="2697480"/>
            <a:ext cx="187809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翻译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56498" y="2697480"/>
            <a:ext cx="548478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服务触发限流、吞掉错误，把你的英文原文当作译文返回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24166" y="2697480"/>
            <a:ext cx="2908575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Gate T3b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3291840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8" y="3410712"/>
            <a:ext cx="187809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翻译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56498" y="3410712"/>
            <a:ext cx="548478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实际运行的翻译服务并非你指定的那个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24166" y="3410712"/>
            <a:ext cx="2908575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Gate T2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4005072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4005072"/>
            <a:ext cx="10820095" cy="7132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5528" y="4123944"/>
            <a:ext cx="187809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合成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56498" y="4123944"/>
            <a:ext cx="548478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字幕渲染到画面外，或与源视频已烧录的文字重叠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24166" y="4123944"/>
            <a:ext cx="2908575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Gate T4 + 你的眼睛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4718304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91495" y="6355080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2194560"/>
            <a:ext cx="54864" cy="219456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182880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FC4E8"/>
                </a:solidFill>
                <a:latin typeface="Calibri"/>
                <a:ea typeface="Microsoft YaHei"/>
                <a:cs typeface="Microsoft YaHei"/>
              </a:rPr>
              <a:t>唯一的铁律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240280"/>
            <a:ext cx="96926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「✓ Done」只是一个字符串。
输出文件本身才是证据。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4526280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9AA8B4"/>
                </a:solidFill>
                <a:latin typeface="Calibri"/>
                <a:ea typeface="Microsoft YaHei"/>
                <a:cs typeface="Microsoft YaHei"/>
              </a:rPr>
              <a:t>与 gstack 教程 #2 的「'PASS' 只是字符串，日志才是证据」同一条教训 —— 领域不同，纪律相同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355080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A8B4"/>
                </a:solidFill>
                <a:latin typeface="Calibri"/>
                <a:ea typeface="Microsoft YaHei"/>
                <a:cs typeface="Microsoft YaHe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真实事故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552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一个免费翻译器返回了我们的英文原文，还报告成功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98448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481328"/>
            <a:ext cx="10820095" cy="29215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481328"/>
            <a:ext cx="45720" cy="2921508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09928"/>
            <a:ext cx="10271455" cy="24643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$ videocaptioner subtitle probe.srt --translator google \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      --target-language zh-Hans --layout target-only -o out.srt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ERROR - Google translation failed 1: 429 Too Many Requests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ERROR - Google translation failed 2: 429 Too Many Requests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OK Done -&gt; out.srt (2 segments)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exit code: 0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$ cat out.srt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hello this is a short test          # &lt;- still English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of the translation pipeline         # &lt;- still English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677156"/>
            <a:ext cx="108200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错误被记录，然后被吞掉。退出码 0。分段数正确。文件格式良好。它唯一的问题是：里面没有中文。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355080"/>
            <a:ext cx="9601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观测于 2026-09-15，videocaptioner 1.4.2，Windows 11，香港网络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1495" y="6355080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为何严重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552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那个文件通过了五道关卡中的四道 —— 验证链检查了一切，唯独没检查「翻译是否发生」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98448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481328"/>
            <a:ext cx="10820095" cy="384048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1572768"/>
            <a:ext cx="30818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关卡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60211" y="1572768"/>
            <a:ext cx="130954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52637" y="1572768"/>
            <a:ext cx="588010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为何漏掉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1984248"/>
            <a:ext cx="308180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T1 转写完整性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0211" y="1984248"/>
            <a:ext cx="1309546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1E7A4D"/>
                </a:solidFill>
                <a:latin typeface="Calibri"/>
                <a:ea typeface="Microsoft YaHei"/>
                <a:cs typeface="Microsoft YaHei"/>
              </a:rPr>
              <a:t>通过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52637" y="1984248"/>
            <a:ext cx="588010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源 .srt 文件确实没问题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578608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2578608"/>
            <a:ext cx="10820095" cy="7132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8" y="2697480"/>
            <a:ext cx="308180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T2 翻译服务溯源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60211" y="2697480"/>
            <a:ext cx="1309546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1E7A4D"/>
                </a:solidFill>
                <a:latin typeface="Calibri"/>
                <a:ea typeface="Microsoft YaHei"/>
                <a:cs typeface="Microsoft YaHei"/>
              </a:rPr>
              <a:t>通过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52637" y="2697480"/>
            <a:ext cx="588010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实际运行的确实是 google —— 正如指定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3291840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8" y="3410712"/>
            <a:ext cx="308180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T3 分段一致性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60211" y="3410712"/>
            <a:ext cx="1309546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1E7A4D"/>
                </a:solidFill>
                <a:latin typeface="Calibri"/>
                <a:ea typeface="Microsoft YaHei"/>
                <a:cs typeface="Microsoft YaHei"/>
              </a:rPr>
              <a:t>通过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52637" y="3410712"/>
            <a:ext cx="588010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输入 2 段，输出 2 段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4005072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4005072"/>
            <a:ext cx="10820095" cy="7132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5528" y="4123944"/>
            <a:ext cx="308180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T4 合成保真度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60211" y="4123944"/>
            <a:ext cx="1309546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1E7A4D"/>
                </a:solidFill>
                <a:latin typeface="Calibri"/>
                <a:ea typeface="Microsoft YaHei"/>
                <a:cs typeface="Microsoft YaHei"/>
              </a:rPr>
              <a:t>通过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52637" y="4123944"/>
            <a:ext cx="588010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视频结构完美，只是画面上是英文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4718304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528" y="4837176"/>
            <a:ext cx="308180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T3b —— 当时尚不存在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60211" y="4837176"/>
            <a:ext cx="1309546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A31D1D"/>
                </a:solidFill>
                <a:latin typeface="Calibri"/>
                <a:ea typeface="Microsoft YaHei"/>
                <a:cs typeface="Microsoft YaHei"/>
              </a:rPr>
              <a:t>失败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52637" y="4837176"/>
            <a:ext cx="588010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因这次事故而新增。现在它是唯一能抓到此问题的关卡。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5431536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6355080"/>
            <a:ext cx="9601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来源：reviews/04-qa-report.md 发现 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91495" y="6355080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463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0" b="1" i="0">
                <a:solidFill>
                  <a:srgbClr val="00A6C9"/>
                </a:solidFill>
                <a:latin typeface="Calibr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0" y="2606040"/>
            <a:ext cx="9525" cy="1005840"/>
          </a:xfrm>
          <a:prstGeom prst="rect">
            <a:avLst/>
          </a:prstGeom>
          <a:solidFill>
            <a:srgbClr val="3E5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697480" y="2606040"/>
            <a:ext cx="8412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流水线及其关卡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97480" y="3310128"/>
            <a:ext cx="8046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B6C5D2"/>
                </a:solidFill>
                <a:latin typeface="Calibri"/>
                <a:ea typeface="Microsoft YaHei"/>
                <a:cs typeface="Microsoft YaHei"/>
              </a:rPr>
              <a:t>四条命令、一次人工通读、五道关卡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355080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A8B4"/>
                </a:solidFill>
                <a:latin typeface="Calibri"/>
                <a:ea typeface="Microsoft YaHei"/>
                <a:cs typeface="Microsoft YaHe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流水线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552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四个阶段，其中转写与翻译之间必须插入一次人工通读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98448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entagon 4"/>
          <p:cNvSpPr/>
          <p:nvPr/>
        </p:nvSpPr>
        <p:spPr>
          <a:xfrm>
            <a:off x="685800" y="1965960"/>
            <a:ext cx="2595295" cy="1508760"/>
          </a:xfrm>
          <a:prstGeom prst="homePlate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2203704"/>
            <a:ext cx="19094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1  转写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587752"/>
            <a:ext cx="19094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D6E2EC"/>
                </a:solidFill>
                <a:latin typeface="Calibri"/>
                <a:ea typeface="Microsoft YaHei"/>
                <a:cs typeface="Microsoft YaHei"/>
              </a:rPr>
              <a:t>ASR 生成英文 .srt。免费 bijian 引擎，无需配置。</a:t>
            </a:r>
          </a:p>
        </p:txBody>
      </p:sp>
      <p:sp>
        <p:nvSpPr>
          <p:cNvPr id="8" name="Pentagon 7"/>
          <p:cNvSpPr/>
          <p:nvPr/>
        </p:nvSpPr>
        <p:spPr>
          <a:xfrm>
            <a:off x="3427399" y="1965960"/>
            <a:ext cx="2595295" cy="1508760"/>
          </a:xfrm>
          <a:prstGeom prst="homePlate">
            <a:avLst/>
          </a:prstGeom>
          <a:solidFill>
            <a:srgbClr val="2E62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28567" y="2203704"/>
            <a:ext cx="19094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2  校正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28567" y="2587752"/>
            <a:ext cx="19094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D6E2EC"/>
                </a:solidFill>
                <a:latin typeface="Calibri"/>
                <a:ea typeface="Microsoft YaHei"/>
                <a:cs typeface="Microsoft YaHei"/>
              </a:rPr>
              <a:t>你亲自通读。ASR 错误在这里改，否则会被翻译下去。</a:t>
            </a:r>
          </a:p>
        </p:txBody>
      </p:sp>
      <p:sp>
        <p:nvSpPr>
          <p:cNvPr id="11" name="Pentagon 10"/>
          <p:cNvSpPr/>
          <p:nvPr/>
        </p:nvSpPr>
        <p:spPr>
          <a:xfrm>
            <a:off x="6168998" y="1965960"/>
            <a:ext cx="2595295" cy="1508760"/>
          </a:xfrm>
          <a:prstGeom prst="homePlate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0166" y="2203704"/>
            <a:ext cx="19094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3  翻译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0166" y="2587752"/>
            <a:ext cx="19094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D6E2EC"/>
                </a:solidFill>
                <a:latin typeface="Calibri"/>
                <a:ea typeface="Microsoft YaHei"/>
                <a:cs typeface="Microsoft YaHei"/>
              </a:rPr>
              <a:t>仅输出中文。翻译服务按你自己的访问条件选择。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10597" y="1965960"/>
            <a:ext cx="2595295" cy="1508760"/>
          </a:xfrm>
          <a:prstGeom prst="rect">
            <a:avLst/>
          </a:prstGeom>
          <a:solidFill>
            <a:srgbClr val="2E62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11765" y="2203704"/>
            <a:ext cx="19094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4  合成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11765" y="2587752"/>
            <a:ext cx="19094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D6E2EC"/>
                </a:solidFill>
                <a:latin typeface="Calibri"/>
                <a:ea typeface="Microsoft YaHei"/>
                <a:cs typeface="Microsoft YaHei"/>
              </a:rPr>
              <a:t>烧录字幕。样式与位置可控。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977639"/>
            <a:ext cx="1082009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阶段 2 是所有人都想跳过的一步。我们的试点在这里抓到三处真实 ASR 错误 —— 在英文阶段改只要两分钟，放过去就变成翻译质量问题。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91495" y="6355080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关卡链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552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四道关卡以代码运行；第五道需要双语人工，我们对此直言不讳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98448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481328"/>
            <a:ext cx="10820095" cy="384048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1572768"/>
            <a:ext cx="139095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关卡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69360" y="1572768"/>
            <a:ext cx="709609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检查什么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48333" y="1572768"/>
            <a:ext cx="178441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可机械执行？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1984248"/>
            <a:ext cx="1390952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69360" y="1984248"/>
            <a:ext cx="7096093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转写确实产出了分段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48333" y="1984248"/>
            <a:ext cx="178441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是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567940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2567940"/>
            <a:ext cx="10820095" cy="702564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8" y="2686812"/>
            <a:ext cx="1390952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69360" y="2686812"/>
            <a:ext cx="7096093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实际运行的翻译服务就是你指定的那个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48333" y="2686812"/>
            <a:ext cx="178441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是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3270504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8" y="3389376"/>
            <a:ext cx="1390952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69360" y="3389376"/>
            <a:ext cx="7096093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没有分段被丢弃或合并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8333" y="3389376"/>
            <a:ext cx="178441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是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3973068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3973068"/>
            <a:ext cx="10820095" cy="702564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5528" y="4091940"/>
            <a:ext cx="1390952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T3b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69360" y="4091940"/>
            <a:ext cx="7096093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翻译确实发生了 —— 而非英文透传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48333" y="4091940"/>
            <a:ext cx="178441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是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4675632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528" y="4794504"/>
            <a:ext cx="1390952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69360" y="4794504"/>
            <a:ext cx="7096093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输出与源文件分辨率、时长完全一致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48333" y="4794504"/>
            <a:ext cx="178441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是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5378196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85800" y="5378196"/>
            <a:ext cx="10820095" cy="702564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5528" y="5497068"/>
            <a:ext cx="1390952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69360" y="5497068"/>
            <a:ext cx="7096093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中文忠实且地道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48333" y="5497068"/>
            <a:ext cx="1784410" cy="5562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否 —— 人工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5800" y="6080760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91495" y="6355080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循环论证陷阱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552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绝不用源自产物自身的东西去验证该产物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98448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481328"/>
            <a:ext cx="5250027" cy="4480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481328"/>
            <a:ext cx="5250027" cy="457200"/>
          </a:xfrm>
          <a:prstGeom prst="rect">
            <a:avLst/>
          </a:prstGeom>
          <a:solidFill>
            <a:srgbClr val="A3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600200"/>
            <a:ext cx="484769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诱人，且毫无价值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139696"/>
            <a:ext cx="4847691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用 OCR 识别成片中烧录的字幕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把识别结果与你用来生成它的 .srt 比对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它会吻合。这只能证明合成没有损坏文本。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它完全无法说明中文是否是正确的翻译。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255867" y="1481328"/>
            <a:ext cx="5250027" cy="4480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481328"/>
            <a:ext cx="5250027" cy="457200"/>
          </a:xfrm>
          <a:prstGeom prst="rect">
            <a:avLst/>
          </a:prstGeom>
          <a:solidFill>
            <a:srgbClr val="1E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57035" y="1600200"/>
            <a:ext cx="484769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脚本的实际做法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7035" y="2139696"/>
            <a:ext cx="4847691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传入 --ocr-check，run_gates.py 以 2 退出 —— VOID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不是 0（通过），也不是 1（失败）。而是第三种、独立的状态。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VOID = 检查跑了，但什么也没证明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直接比对英文 .srt 与中文 .srt。绝不比对视频。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355080"/>
            <a:ext cx="9601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与教程 #2 的 LVS 循环论证陷阱是同一条教训的移植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91495" y="6355080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463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0" b="1" i="0">
                <a:solidFill>
                  <a:srgbClr val="00A6C9"/>
                </a:solidFill>
                <a:latin typeface="Calibr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0" y="2606040"/>
            <a:ext cx="9525" cy="1005840"/>
          </a:xfrm>
          <a:prstGeom prst="rect">
            <a:avLst/>
          </a:prstGeom>
          <a:solidFill>
            <a:srgbClr val="3E5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697480" y="2606040"/>
            <a:ext cx="8412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环境搭建，以及我们最初做错的那个选择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97480" y="3310128"/>
            <a:ext cx="8046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B6C5D2"/>
                </a:solidFill>
                <a:latin typeface="Calibri"/>
                <a:ea typeface="Microsoft YaHei"/>
                <a:cs typeface="Microsoft YaHei"/>
              </a:rPr>
              <a:t>安装很简单。真正让读者产生分歧的，是翻译服务的选择。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355080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A8B4"/>
                </a:solidFill>
                <a:latin typeface="Calibri"/>
                <a:ea typeface="Microsoft YaHei"/>
                <a:cs typeface="Microsoft YaHe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安装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552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三个组件，其中一条版本约束是真的会咬人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98448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1082009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595959"/>
                </a:solidFill>
                <a:latin typeface="Calibri"/>
                <a:ea typeface="Microsoft YaHei"/>
                <a:cs typeface="Microsoft YaHei"/>
              </a:rPr>
              <a:t>Windows 11、macOS、Linux 的完整分步说明见 starter/INSTALL.md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011680"/>
            <a:ext cx="10820095" cy="384048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2103120"/>
            <a:ext cx="237459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组件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53005" y="2103120"/>
            <a:ext cx="276805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约束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3940" y="2103120"/>
            <a:ext cx="51288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用途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2514600"/>
            <a:ext cx="2374597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Python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53005" y="2514600"/>
            <a:ext cx="2768055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&gt;=3.10, &lt;3.13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3940" y="2514600"/>
            <a:ext cx="512880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videocaptioner 的硬性要求。3.13 尚不支持 —— 请先确认。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3108960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3108960"/>
            <a:ext cx="10820095" cy="7132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8" y="3227832"/>
            <a:ext cx="2374597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FFmpeg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3005" y="3227832"/>
            <a:ext cx="2768055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任意较新版本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3940" y="3227832"/>
            <a:ext cx="512880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音频提取、字幕烧录，以及每一道验证关卡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3822192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8" y="3941064"/>
            <a:ext cx="2374597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videocaptioner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53005" y="3941064"/>
            <a:ext cx="2768055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pip install videocaptioner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3940" y="3941064"/>
            <a:ext cx="512880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流水线本体。用 `videocaptioner doctor` 验证。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4535424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91495" y="6355080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翻译服务选择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552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不要照搬我们的翻译服务 —— 你的访问条件与我们不同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98448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108200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595959"/>
                </a:solidFill>
                <a:latin typeface="Calibri"/>
                <a:ea typeface="Microsoft YaHei"/>
                <a:cs typeface="Microsoft YaHei"/>
              </a:rPr>
              <a:t>本教程初稿要求读者使用 --translator llm 且绝不回退。那其实只是把我们自己的 API 配置当成了普适规则。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2157984"/>
            <a:ext cx="64008" cy="64008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2048256"/>
            <a:ext cx="105640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默认值是 bing，不是 llm。  </a:t>
            </a:r>
            <a:r>
              <a:rPr sz="1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省略参数你就会悄悄用上 Bing。本教程每条命令都显式写出翻译服务。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088" y="3108960"/>
            <a:ext cx="64008" cy="64008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999232"/>
            <a:ext cx="105640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免费也仍需密钥。  </a:t>
            </a:r>
            <a:r>
              <a:rPr sz="1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断句和优化无论选哪个翻译服务都由 LLM 驱动。没有密钥的读者还需加 --no-optimize --no-split。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088" y="4059936"/>
            <a:ext cx="64008" cy="64008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3950208"/>
            <a:ext cx="105640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地域比预算更具决定性。  </a:t>
            </a:r>
            <a:r>
              <a:rPr sz="1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在严格防火墙之后，Google 与 Bing 端点常常不可达，而境内 LLM 端点通常可达。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088" y="5010912"/>
            <a:ext cx="64008" cy="64008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4901184"/>
            <a:ext cx="105640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费用很少是障碍。  </a:t>
            </a:r>
            <a:r>
              <a:rPr sz="1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一小时语音的翻译成本不到一杯咖啡。真正的门槛是拿到密钥和支付方式。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55080"/>
            <a:ext cx="9601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完整决策指南：docs/choosing_a_translator.md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91495" y="6355080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实测可用性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552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两个免费选项对我们都失败了 —— 一个吵闹，一个静默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98448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1082009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595959"/>
                </a:solidFill>
                <a:latin typeface="Calibri"/>
                <a:ea typeface="Microsoft YaHei"/>
                <a:cs typeface="Microsoft YaHei"/>
              </a:rPr>
              <a:t>2026-09-15 于香港实测。你的结果可能不同 —— 这正是重点。请自行重跑探测。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011680"/>
            <a:ext cx="10820095" cy="384048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2103120"/>
            <a:ext cx="178441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选项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62818" y="2103120"/>
            <a:ext cx="1587681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费用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33379" y="2103120"/>
            <a:ext cx="68993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我们实测的结果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2514600"/>
            <a:ext cx="178441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llm`（DeepSeek）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2818" y="2514600"/>
            <a:ext cx="158768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付费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33379" y="2514600"/>
            <a:ext cx="689936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可用。在 32 段和 1086 段的片子上都流畅自然。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3108960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3108960"/>
            <a:ext cx="10820095" cy="7132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8" y="3227832"/>
            <a:ext cx="178441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bing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62818" y="3227832"/>
            <a:ext cx="158768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免费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3379" y="3227832"/>
            <a:ext cx="689936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A31D1D"/>
                </a:solidFill>
                <a:latin typeface="Calibri"/>
                <a:ea typeface="Microsoft YaHei"/>
                <a:cs typeface="Microsoft YaHei"/>
              </a:rPr>
              <a:t>失败 —— 认证端点 404。吵闹地失败，所以不会产出坏成品。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3822192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8" y="3941064"/>
            <a:ext cx="178441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google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62818" y="3941064"/>
            <a:ext cx="158768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免费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33379" y="3941064"/>
            <a:ext cx="689936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静默输出未翻译的英文并以 0 退出。危险的那一个。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4535424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6355080"/>
            <a:ext cx="9601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静默降级的服务，比吵闹失败的服务更危险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91495" y="6355080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两分钟探测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552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在投入 41 分钟的片子之前，先用两段字幕探测你的访问条件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98448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481328"/>
            <a:ext cx="10820095" cy="2249424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481328"/>
            <a:ext cx="45720" cy="2249424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09928"/>
            <a:ext cx="10271455" cy="1792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onsolas"/>
                <a:ea typeface="Consolas"/>
                <a:cs typeface="Consolas"/>
              </a:rPr>
              <a:t># 1. Make a 2-segment probe.srt, then: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videocaptioner subtitle probe.srt --translator llm \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    --target-language zh-Hans --layout target-only -o probe_out.srt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onsolas"/>
                <a:ea typeface="Consolas"/>
                <a:cs typeface="Consolas"/>
              </a:rPr>
              <a:t># 2. Then actually OPEN probe_out.srt and look at it.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onsolas"/>
                <a:ea typeface="Consolas"/>
                <a:cs typeface="Consolas"/>
              </a:rPr>
              <a:t>#    Chinese text          -&gt; good, proceed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onsolas"/>
                <a:ea typeface="Consolas"/>
                <a:cs typeface="Consolas"/>
              </a:rPr>
              <a:t>#    A loud error          -&gt; try another option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onsolas"/>
                <a:ea typeface="Consolas"/>
                <a:cs typeface="Consolas"/>
              </a:rPr>
              <a:t>#    English + 'OK Done'   -&gt; silent passthrough, do NOT proceed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005072"/>
            <a:ext cx="108200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第三种结果会让人损失一天。请亲自打开文件看一眼。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91495" y="6355080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463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0" b="1" i="0">
                <a:solidFill>
                  <a:srgbClr val="00A6C9"/>
                </a:solidFill>
                <a:latin typeface="Calibr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0" y="2606040"/>
            <a:ext cx="9525" cy="1005840"/>
          </a:xfrm>
          <a:prstGeom prst="rect">
            <a:avLst/>
          </a:prstGeom>
          <a:solidFill>
            <a:srgbClr val="3E5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697480" y="2606040"/>
            <a:ext cx="8412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运行流水线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97480" y="3310128"/>
            <a:ext cx="8046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B6C5D2"/>
                </a:solidFill>
                <a:latin typeface="Calibri"/>
                <a:ea typeface="Microsoft YaHei"/>
                <a:cs typeface="Microsoft YaHei"/>
              </a:rPr>
              <a:t>转写、通读、翻译、合成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355080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A8B4"/>
                </a:solidFill>
                <a:latin typeface="Calibri"/>
                <a:ea typeface="Microsoft YaHei"/>
                <a:cs typeface="Microsoft YaHei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阶段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552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通读转写稿，在 89 秒的片子里抓到三处真实错误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98448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1082009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595959"/>
                </a:solidFill>
                <a:latin typeface="Calibri"/>
                <a:ea typeface="Microsoft YaHei"/>
                <a:cs typeface="Microsoft YaHei"/>
              </a:rPr>
              <a:t>在英文阶段改只要两分钟。放过去就永远变成翻译质量问题。只改文本行 —— 绝不动序号和时间轴。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011680"/>
            <a:ext cx="10820095" cy="384048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2103120"/>
            <a:ext cx="37517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ASR 写成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30108" y="2103120"/>
            <a:ext cx="37517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应为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64688" y="2103120"/>
            <a:ext cx="276805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漏掉的代价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2514600"/>
            <a:ext cx="37517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30108" y="2514600"/>
            <a:ext cx="37517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64688" y="2514600"/>
            <a:ext cx="2768055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被当作普通名词翻译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3108960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" y="3108960"/>
            <a:ext cx="10820095" cy="7132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8" y="3227832"/>
            <a:ext cx="37517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home humanoid robots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0108" y="3227832"/>
            <a:ext cx="37517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humanoid robots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64688" y="3227832"/>
            <a:ext cx="2768055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凭空多出一个没说过的词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3822192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8" y="3941064"/>
            <a:ext cx="37517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neural netells 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30108" y="3941064"/>
            <a:ext cx="37517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neural network tells 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64688" y="3941064"/>
            <a:ext cx="2768055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输入混乱，输出必然混乱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4535424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91495" y="6355080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阶段 3-4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552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直接输出纯中文，然后立刻核查服务溯源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98448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481328"/>
            <a:ext cx="10820095" cy="2697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481328"/>
            <a:ext cx="45720" cy="26974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09928"/>
            <a:ext cx="10271455" cy="2240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onsolas"/>
                <a:ea typeface="Consolas"/>
                <a:cs typeface="Consolas"/>
              </a:rPr>
              <a:t># Translate — target-only avoids a bilingual file you'd have to redo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videocaptioner subtitle clip.srt --translator llm \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    --target-language zh-Hans --layout target-only -o clip_zh.srt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onsolas"/>
                <a:ea typeface="Consolas"/>
                <a:cs typeface="Consolas"/>
              </a:rPr>
              <a:t># Gate T2 — run this IMMEDIATELY after the translate you care about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videocaptioner config show        # confirm translate.service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Consolas"/>
                <a:ea typeface="Consolas"/>
                <a:cs typeface="Consolas"/>
              </a:rPr>
              <a:t># Synthesize — version-suffix so attempts are comparable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videocaptioner synthesize clip.mp4 -s clip_zh.srt \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    --subtitle-mode hard --style default -o clip_captioned_v1.mp4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53128"/>
            <a:ext cx="108200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config show 报告的是当前状态，而非逐次调用历史。连跑多次翻译再检查，这道关卡就失去意义。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91495" y="6355080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在调整样式之前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552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先检查源视频是否已烧录字幕 —— 那是像素，不是字幕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98448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108200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595959"/>
                </a:solidFill>
                <a:latin typeface="Calibri"/>
                <a:ea typeface="Microsoft YaHei"/>
                <a:cs typeface="Microsoft YaHei"/>
              </a:rPr>
              <a:t>在片子不同位置抓 2-3 帧。字幕可能只在某些时段出现。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2157984"/>
            <a:ext cx="64008" cy="64008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2048256"/>
            <a:ext cx="105640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如果发现文字：  </a:t>
            </a:r>
            <a:r>
              <a:rPr sz="1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它已与画面融为一体。对 ffmpeg 而言它和人脸没有区别。任何字幕工具都无法移除。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088" y="3108960"/>
            <a:ext cx="64008" cy="64008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999232"/>
            <a:ext cx="105640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你的选项：  </a:t>
            </a:r>
            <a:r>
              <a:rPr sz="1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干净的源导出、AI 修复（常发糊）、裁掉该区域，或把中文字幕放到避开它的位置。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088" y="4059936"/>
            <a:ext cx="64008" cy="64008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3950208"/>
            <a:ext cx="105640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调大 margin_bottom  </a:t>
            </a:r>
            <a:r>
              <a:rPr sz="1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把字幕抬到已有字幕带之上。我们第一段试点片需要这样做，第二段不需要。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088" y="5010912"/>
            <a:ext cx="64008" cy="64008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4901184"/>
            <a:ext cx="105640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Windows PowerShell 警告：  </a:t>
            </a:r>
            <a:r>
              <a:rPr sz="1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--style-override 的 JSON 需要反斜杠转义引号：'{\"font_size\":56}'。否则引号在程序看到之前就被剥掉了。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91495" y="6355080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463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0" b="1" i="0">
                <a:solidFill>
                  <a:srgbClr val="00A6C9"/>
                </a:solidFill>
                <a:latin typeface="Calibr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0" y="2606040"/>
            <a:ext cx="9525" cy="1005840"/>
          </a:xfrm>
          <a:prstGeom prst="rect">
            <a:avLst/>
          </a:prstGeom>
          <a:solidFill>
            <a:srgbClr val="3E5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697480" y="2606040"/>
            <a:ext cx="8412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验证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97480" y="3310128"/>
            <a:ext cx="8046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B6C5D2"/>
                </a:solidFill>
                <a:latin typeface="Calibri"/>
                <a:ea typeface="Microsoft YaHei"/>
                <a:cs typeface="Microsoft YaHei"/>
              </a:rPr>
              <a:t>本教程真正的要点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355080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A8B4"/>
                </a:solidFill>
                <a:latin typeface="Calibri"/>
                <a:ea typeface="Microsoft YaHei"/>
                <a:cs typeface="Microsoft YaHei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关卡 T1-T4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552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一条命令，针对真实产物跑完所有机械关卡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98448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481328"/>
            <a:ext cx="10820095" cy="29215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481328"/>
            <a:ext cx="45720" cy="2921508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09928"/>
            <a:ext cx="10271455" cy="24643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$ python starter/scripts/run_gates.py \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      --source-video clip.mp4  --source-srt clip.srt \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      --target-srt clip_zh.srt --output-video clip_captioned_v2.mp4 \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      --translator llm --target-language zh-Hans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1E7A4D"/>
                </a:solidFill>
                <a:latin typeface="Consolas"/>
                <a:ea typeface="Consolas"/>
                <a:cs typeface="Consolas"/>
              </a:rPr>
              <a:t>T1 PASS - clip.srt: 32 segments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1E7A4D"/>
                </a:solidFill>
                <a:latin typeface="Consolas"/>
                <a:ea typeface="Consolas"/>
                <a:cs typeface="Consolas"/>
              </a:rPr>
              <a:t>T2 PASS - translate.service = llm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1E7A4D"/>
                </a:solidFill>
                <a:latin typeface="Consolas"/>
                <a:ea typeface="Consolas"/>
                <a:cs typeface="Consolas"/>
              </a:rPr>
              <a:t>T3 PASS - 32 segments in both source and target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1E7A4D"/>
                </a:solidFill>
                <a:latin typeface="Consolas"/>
                <a:ea typeface="Consolas"/>
                <a:cs typeface="Consolas"/>
              </a:rPr>
              <a:t>T3b PASS - target is genuinely translated, not source passthrough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1E7A4D"/>
                </a:solidFill>
                <a:latin typeface="Consolas"/>
                <a:ea typeface="Consolas"/>
                <a:cs typeface="Consolas"/>
              </a:rPr>
              <a:t>T4 PASS - 1080x596, 89.131s (source) vs 89.131s (output)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T5 NOT AUTO-VERIFIED - run the procedure by hand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55080"/>
            <a:ext cx="9601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针对试点自身的产物验证通过 —— reviews/03-eng-review.md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91495" y="6355080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退出码契约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552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VOID 拥有独立退出码，让「毫无意义」永远不会显示为「成功」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98448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481328"/>
            <a:ext cx="10820095" cy="384048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1572768"/>
            <a:ext cx="989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67704" y="1572768"/>
            <a:ext cx="2972981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含义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3565" y="1572768"/>
            <a:ext cx="630917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你该怎么做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1984248"/>
            <a:ext cx="989296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7704" y="1984248"/>
            <a:ext cx="297298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T1-T4 全部通过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3565" y="1984248"/>
            <a:ext cx="6309177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人工执行 Gate T5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578608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2578608"/>
            <a:ext cx="10820095" cy="7132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8" y="2697480"/>
            <a:ext cx="989296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7704" y="2697480"/>
            <a:ext cx="297298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A31D1D"/>
                </a:solidFill>
                <a:latin typeface="Calibri"/>
                <a:ea typeface="Microsoft YaHei"/>
                <a:cs typeface="Microsoft YaHei"/>
              </a:rPr>
              <a:t>失败 —— 某道关卡抓到真实缺陷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3565" y="2697480"/>
            <a:ext cx="6309177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修产物，绝不修关卡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3291840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8" y="3410712"/>
            <a:ext cx="989296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7704" y="3410712"/>
            <a:ext cx="297298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A31D1D"/>
                </a:solidFill>
                <a:latin typeface="Calibri"/>
                <a:ea typeface="Microsoft YaHei"/>
                <a:cs typeface="Microsoft YaHei"/>
              </a:rPr>
              <a:t>无效 —— 该检查属于自我指涉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3565" y="3410712"/>
            <a:ext cx="6309177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单独告警。不是重试 —— 这个检查什么也没证明。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4005072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4005072"/>
            <a:ext cx="10820095" cy="7132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5528" y="4123944"/>
            <a:ext cx="989296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00000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67704" y="4123944"/>
            <a:ext cx="2972981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环境错误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3565" y="4123944"/>
            <a:ext cx="6309177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工具或文件缺失。什么都没验证。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4718304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6355080"/>
            <a:ext cx="9601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沿用教程 #2 的 run_all.sh 契约 —— 两个仓库中最重要的单一设计决策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91495" y="6355080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关卡 T5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552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我们拒绝自动化的那道关卡 —— 用流程取代祈祷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98448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108200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595959"/>
                </a:solidFill>
                <a:latin typeface="Calibri"/>
                <a:ea typeface="Microsoft YaHei"/>
                <a:cs typeface="Microsoft YaHei"/>
              </a:rPr>
              <a:t>gstack 的流程角色能数分段、比对时长。但它们都无法读中文并判断其是否承载原意。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2157984"/>
            <a:ext cx="64008" cy="64008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2048256"/>
            <a:ext cx="105640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输入：  </a:t>
            </a:r>
            <a:r>
              <a:rPr sz="1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英文 .srt 与中文 .srt。绝不是视频 —— 那是循环检查。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088" y="3108960"/>
            <a:ext cx="64008" cy="64008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999232"/>
            <a:ext cx="105640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抽样：  </a:t>
            </a:r>
            <a:r>
              <a:rPr sz="1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第 1-5 段、约 50% 处一段、最后 5 段。先记录原文语域作为校准基准。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088" y="4059936"/>
            <a:ext cx="64008" cy="64008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3950208"/>
            <a:ext cx="105640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每段四个问题：  </a:t>
            </a:r>
            <a:r>
              <a:rPr sz="1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原意是否保全？地道而非死译？有无凭空增补或遗漏？专有名词与习语是否正确？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088" y="5010912"/>
            <a:ext cx="64008" cy="64008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4901184"/>
            <a:ext cx="105640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结论：  </a:t>
            </a:r>
            <a:r>
              <a:rPr sz="1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PASS，或 PASS-WITH-FLAG 并注明段落。带标记的运行在每处标记被书面处理之前都不算完成。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55080"/>
            <a:ext cx="9601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完整契约、RACI 与转交条款见：docs/expertise_division.md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91495" y="6355080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463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0" b="1" i="0">
                <a:solidFill>
                  <a:srgbClr val="00A6C9"/>
                </a:solidFill>
                <a:latin typeface="Calibr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0" y="2606040"/>
            <a:ext cx="9525" cy="1005840"/>
          </a:xfrm>
          <a:prstGeom prst="rect">
            <a:avLst/>
          </a:prstGeom>
          <a:solidFill>
            <a:srgbClr val="3E5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697480" y="2606040"/>
            <a:ext cx="8412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可迁移到你下一个项目的东西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97480" y="3310128"/>
            <a:ext cx="8046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B6C5D2"/>
                </a:solidFill>
                <a:latin typeface="Calibri"/>
                <a:ea typeface="Microsoft YaHei"/>
                <a:cs typeface="Microsoft YaHei"/>
              </a:rPr>
              <a:t>五条比这个工具本身活得更久的纪律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355080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A8B4"/>
                </a:solidFill>
                <a:latin typeface="Calibri"/>
                <a:ea typeface="Microsoft YaHei"/>
                <a:cs typeface="Microsoft YaHei"/>
              </a:rPr>
              <a:t>25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坑位清单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552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以下每一个问题，在被抓到之前都至少报告过一次成功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98448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481328"/>
            <a:ext cx="10820095" cy="384048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1572768"/>
            <a:ext cx="360415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现象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82561" y="1572768"/>
            <a:ext cx="288281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原因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48254" y="1572768"/>
            <a:ext cx="378448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处理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1984248"/>
            <a:ext cx="360415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翻译「成功」，但输出是英文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2561" y="1984248"/>
            <a:ext cx="288281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免费翻译器吞掉了 429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48254" y="1984248"/>
            <a:ext cx="378448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Gate T3b；更换翻译服务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578608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2578608"/>
            <a:ext cx="10820095" cy="7132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8" y="2697480"/>
            <a:ext cx="360415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命令看起来正确却报 JSON 错误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2561" y="2697480"/>
            <a:ext cx="288281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PowerShell 剥掉了引号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48254" y="2697480"/>
            <a:ext cx="378448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反斜杠转义：`'{\"k\":1}'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3291840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8" y="3410712"/>
            <a:ext cx="360415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Gate T1 少数一个分段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82561" y="3410712"/>
            <a:ext cx="288281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首行有 UTF-8 BOM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48254" y="3410712"/>
            <a:ext cx="378448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用 `utf-8-sig` 读取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4005072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4005072"/>
            <a:ext cx="10820095" cy="7132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5528" y="4123944"/>
            <a:ext cx="360415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中文字幕与画面文字重叠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82561" y="4123944"/>
            <a:ext cx="288281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源视频有已烧录字幕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48254" y="4123944"/>
            <a:ext cx="378448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调大 `margin_bottom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4718304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528" y="4837176"/>
            <a:ext cx="360415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安装成功后仍提示 `command not found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82561" y="4837176"/>
            <a:ext cx="288281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Scripts 目录不在 PATH 中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48254" y="4837176"/>
            <a:ext cx="378448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加入 PATH，重开终端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5431536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6355080"/>
            <a:ext cx="9601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BOM 缺陷是我们自己的 —— 只因为一个测试文件来自 PowerShell 而非 videocaptioner 才被发现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91495" y="6355080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可迁移的纪律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552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五个习惯，适用于任何「产出错误结果代价高昂」的流水线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98448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04088" y="1591056"/>
            <a:ext cx="64008" cy="64008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481328"/>
            <a:ext cx="105640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检查输出，而不是退出码。  </a:t>
            </a:r>
            <a:r>
              <a:rPr sz="1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我们坑位清单里的每一个失败，都至少曾报告过一次成功。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088" y="2510942"/>
            <a:ext cx="64008" cy="64008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2401214"/>
            <a:ext cx="105640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绝不用产物自己验证自己。  </a:t>
            </a:r>
            <a:r>
              <a:rPr sz="1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这里是 OCR 对比自己的 srt；教程 #2 里是从待测 GDS 导出的网表跑 LVS。同一个错误。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3430828"/>
            <a:ext cx="64008" cy="64008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3321100"/>
            <a:ext cx="105640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给「无意义」一个独立信号。  </a:t>
            </a:r>
            <a:r>
              <a:rPr sz="1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VOID 有独立退出码，脚本或快速浏览的审阅者都不会把它误认为 PASS。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4350714"/>
            <a:ext cx="64008" cy="64008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4240986"/>
            <a:ext cx="105640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明确点出你封不住的缺口。  </a:t>
            </a:r>
            <a:r>
              <a:rPr sz="1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Gate T5 没有自动化，文档就直说，而不是暗示覆盖完整。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088" y="5270600"/>
            <a:ext cx="64008" cy="64008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5160872"/>
            <a:ext cx="105640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读者的环境不是你的环境。  </a:t>
            </a:r>
            <a:r>
              <a:rPr sz="1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「翻译服务选择」一章之所以存在，是因为初稿把我们自己的 API 配置当成了规则。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91495" y="6355080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27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系列定位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552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教程 #3 检验的是：这套模式在简单主题上是否依然划算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98448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1082009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595959"/>
                </a:solidFill>
                <a:latin typeface="Calibri"/>
                <a:ea typeface="Microsoft YaHei"/>
                <a:cs typeface="Microsoft YaHei"/>
              </a:rPr>
              <a:t>答案：是的，但权威划分更轻。一位领域审阅者而非两位，且其否决权只在一道关卡上生效。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011680"/>
            <a:ext cx="10820095" cy="384048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2103120"/>
            <a:ext cx="216147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39881" y="2103120"/>
            <a:ext cx="216147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教程 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4234" y="2103120"/>
            <a:ext cx="288281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教程 #2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9927" y="2103120"/>
            <a:ext cx="288281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教程 #3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514600"/>
            <a:ext cx="216147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载体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9881" y="2514600"/>
            <a:ext cx="216147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hello_world.py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4234" y="2514600"/>
            <a:ext cx="288281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RTL→GDS 芯片设计系统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49927" y="2514600"/>
            <a:ext cx="288281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英译中视频字幕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108960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3108960"/>
            <a:ext cx="10820095" cy="7132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528" y="3227832"/>
            <a:ext cx="216147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团队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39881" y="3227832"/>
            <a:ext cx="216147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5 个 gstack 角色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4234" y="3227832"/>
            <a:ext cx="288281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5 角色 × 2 领域智能体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9927" y="3227832"/>
            <a:ext cx="288281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5 角色 × 1 领域审阅者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3822192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8" y="3941064"/>
            <a:ext cx="216147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完成的证明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39881" y="3941064"/>
            <a:ext cx="216147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评审合并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4234" y="3941064"/>
            <a:ext cx="288281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关卡链 + GDS SHA 一致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49927" y="3941064"/>
            <a:ext cx="288281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关卡 T1-T4 + T5 审阅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4535424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5800" y="4535424"/>
            <a:ext cx="10820095" cy="7132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5528" y="4654296"/>
            <a:ext cx="216147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环境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39881" y="4654296"/>
            <a:ext cx="216147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4234" y="4654296"/>
            <a:ext cx="288281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数 GB 开源 EDA + PDK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9927" y="4654296"/>
            <a:ext cx="288281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一次 pip install + FFmpeg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5248656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5528" y="5367528"/>
            <a:ext cx="216147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耗时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39881" y="5367528"/>
            <a:ext cx="216147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数分钟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4234" y="5367528"/>
            <a:ext cx="288281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10-14 小时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49927" y="5367528"/>
            <a:ext cx="2882813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2.5-7 小时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85800" y="5961888"/>
            <a:ext cx="10820095" cy="9525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591495" y="6355080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28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完成的定义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9552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1" i="0">
                <a:solidFill>
                  <a:srgbClr val="1F4E78"/>
                </a:solidFill>
                <a:latin typeface="Calibri"/>
                <a:ea typeface="Microsoft YaHei"/>
                <a:cs typeface="Microsoft YaHei"/>
              </a:rPr>
              <a:t>八条。达不到任何一条，就还是草稿，不是交付物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98448"/>
            <a:ext cx="10820095" cy="9525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04088" y="1591056"/>
            <a:ext cx="64008" cy="64008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481328"/>
            <a:ext cx="105640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Gates T1-T4 全部通过 —— run_gates.py 以 0 退出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088" y="2165985"/>
            <a:ext cx="64008" cy="64008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2056257"/>
            <a:ext cx="105640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Gate T5 已审阅，每处标记均有书面处理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2740914"/>
            <a:ext cx="64008" cy="64008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2631186"/>
            <a:ext cx="105640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已捕获 config show 证据，证明运行的是预期的翻译服务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3315843"/>
            <a:ext cx="64008" cy="64008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3206115"/>
            <a:ext cx="105640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已验证输出的分辨率与时长与源文件完全一致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088" y="3890772"/>
            <a:ext cx="64008" cy="64008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3781044"/>
            <a:ext cx="105640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至少目视检查了一帧输出画面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4088" y="4465701"/>
            <a:ext cx="64008" cy="64008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4355973"/>
            <a:ext cx="105640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已检查源视频是否有预先烧录的字幕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4088" y="5040630"/>
            <a:ext cx="64008" cy="64008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4930902"/>
            <a:ext cx="105640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versions.lock 已填写 —— 版本、服务商、模型、运行日期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4088" y="5615559"/>
            <a:ext cx="64008" cy="64008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1832" y="5505831"/>
            <a:ext cx="105640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000000"/>
                </a:solidFill>
                <a:latin typeface="Calibri"/>
                <a:ea typeface="Microsoft YaHei"/>
                <a:cs typeface="Microsoft YaHei"/>
              </a:rPr>
              <a:t>已知缺口已书面写明，而非隐藏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91495" y="6355080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Calibri"/>
                <a:ea typeface="Microsoft YaHei"/>
                <a:cs typeface="Microsoft YaHei"/>
              </a:rPr>
              <a:t>29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2194560"/>
            <a:ext cx="54864" cy="2194560"/>
          </a:xfrm>
          <a:prstGeom prst="rect">
            <a:avLst/>
          </a:prstGeom>
          <a:solidFill>
            <a:srgbClr val="00A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182880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FC4E8"/>
                </a:solidFill>
                <a:latin typeface="Calibri"/>
                <a:ea typeface="Microsoft YaHei"/>
                <a:cs typeface="Microsoft YaHei"/>
              </a:rPr>
              <a:t>结语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240280"/>
            <a:ext cx="96926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为了通过而放宽的关卡，
就不是关卡。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4526280"/>
            <a:ext cx="9692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9AA8B4"/>
                </a:solidFill>
                <a:latin typeface="Calibri"/>
                <a:ea typeface="Microsoft YaHei"/>
                <a:cs typeface="Microsoft YaHei"/>
              </a:rPr>
              <a:t>gstack 教程系列 —— 唯一一条跨越所有主题都成立的规则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355080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9AA8B4"/>
                </a:solidFill>
                <a:latin typeface="Calibri"/>
                <a:ea typeface="Microsoft YaHei"/>
                <a:cs typeface="Microsoft YaHei"/>
              </a:rPr>
              <a:t>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